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E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109728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3200400" cy="457200"/>
          </a:xfrm>
          <a:prstGeom prst="round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298094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9CCE3"/>
                </a:solidFill>
                <a:latin typeface="Calibri"/>
              </a:rPr>
              <a:t>University of Delaware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772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Credit Card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7772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5DADE8"/>
                </a:solidFill>
                <a:latin typeface="Calibri"/>
              </a:rPr>
              <a:t>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B2CCE2"/>
                </a:solidFill>
                <a:latin typeface="Calibri"/>
              </a:rPr>
              <a:t>Using Clustering Techniques</a:t>
            </a:r>
          </a:p>
        </p:txBody>
      </p:sp>
      <p:sp>
        <p:nvSpPr>
          <p:cNvPr id="10" name="Oval 9"/>
          <p:cNvSpPr/>
          <p:nvPr/>
        </p:nvSpPr>
        <p:spPr>
          <a:xfrm>
            <a:off x="201168" y="1371600"/>
            <a:ext cx="91440" cy="914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168" y="2286000"/>
            <a:ext cx="91440" cy="914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168" y="3200400"/>
            <a:ext cx="91440" cy="914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168" y="4114800"/>
            <a:ext cx="91440" cy="914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1371600"/>
            <a:ext cx="3337560" cy="4389120"/>
          </a:xfrm>
          <a:prstGeom prst="rect">
            <a:avLst/>
          </a:prstGeom>
          <a:solidFill>
            <a:srgbClr val="1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5087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3736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Introduction to Data Mining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212848"/>
            <a:ext cx="333756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33172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578608"/>
            <a:ext cx="30175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Team Member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926079"/>
            <a:ext cx="30175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Team Member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273552"/>
            <a:ext cx="30175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Team Member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621024"/>
            <a:ext cx="30175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Team Member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4023360"/>
            <a:ext cx="333756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133087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E86AB"/>
                </a:solidFill>
                <a:latin typeface="Calibri"/>
              </a:rPr>
              <a:t>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370832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CC_GENERAL.csv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66344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A9CCE3"/>
                </a:solidFill>
                <a:latin typeface="Calibri"/>
              </a:rPr>
              <a:t>8,950 customers  ·  17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73368"/>
            <a:ext cx="11457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6C93B5"/>
                </a:solidFill>
                <a:latin typeface="Calibri"/>
              </a:rPr>
              <a:t>University of Delaware  ·  Introduction to Data Mining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Why segmentation matters — and what we aim to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280160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16128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577840" cy="5120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61872"/>
            <a:ext cx="5212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719072"/>
            <a:ext cx="53583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47088"/>
            <a:ext cx="2560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17830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Banks serve millions of customers with very different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386584"/>
            <a:ext cx="53583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514600"/>
            <a:ext cx="2560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450591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A single product strategy fails to address diverse financial behaviors.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054096"/>
            <a:ext cx="53583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182112"/>
            <a:ext cx="2560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18103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Without segmentation, marketing spend is wasted on the wrong audience.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721608"/>
            <a:ext cx="53583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49624"/>
            <a:ext cx="2560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85616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Credit risk cannot be managed effectively without knowing customer types.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389120"/>
            <a:ext cx="53583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517136"/>
            <a:ext cx="2560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453128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Low-engagement customers churn silently with no targeted intervention.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5056632"/>
            <a:ext cx="53583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184648"/>
            <a:ext cx="25603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1206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High-value customers receive the same treatment as low-activity 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1234440"/>
            <a:ext cx="5760720" cy="237744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1234440"/>
            <a:ext cx="576072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1261872"/>
            <a:ext cx="53949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1709928"/>
            <a:ext cx="539496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C2833"/>
                </a:solidFill>
                <a:latin typeface="Calibri"/>
              </a:rPr>
              <a:t>Apply unsupervised machine learning to group credit card customers into meaningful behavioral segments based on their spending, payment, and borrowing patterns — without any predefined labels.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3749039"/>
            <a:ext cx="5760720" cy="2606040"/>
          </a:xfrm>
          <a:prstGeom prst="rect">
            <a:avLst/>
          </a:prstGeom>
          <a:solidFill>
            <a:srgbClr val="EBF5FB"/>
          </a:solidFill>
          <a:ln w="1270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3749039"/>
            <a:ext cx="576072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3776472"/>
            <a:ext cx="53949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4224528"/>
            <a:ext cx="310896" cy="310896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0216" y="4261104"/>
            <a:ext cx="292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251960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Explore and clean the CC_GENERAL dataset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91072" y="4700016"/>
            <a:ext cx="310896" cy="310896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4736592"/>
            <a:ext cx="292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727448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Apply K-Means, DBSCAN, GMM &amp; Agglomerative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1072" y="5175504"/>
            <a:ext cx="310896" cy="310896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5212080"/>
            <a:ext cx="292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202936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Compare algorithms using 3 internal metrics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5650992"/>
            <a:ext cx="310896" cy="310896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216" y="5687568"/>
            <a:ext cx="2926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67842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Interpret and name the final customer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Real-World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How customer segmentation creates 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859536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74066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148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2148840" cy="640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61872"/>
            <a:ext cx="1965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Marketing
Personalization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93392"/>
            <a:ext cx="201168" cy="20116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0116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9933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Tailor messaging to each segment's spending habits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79192"/>
            <a:ext cx="201168" cy="20116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6974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6791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Send credit limit upgrade offers to Premium Transactors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364992"/>
            <a:ext cx="201168" cy="20116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3832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3649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Re-engagement emails to Dormant 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234440"/>
            <a:ext cx="2148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1234440"/>
            <a:ext cx="214884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1261872"/>
            <a:ext cx="1965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Credit Risk
Monitoring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1993392"/>
            <a:ext cx="201168" cy="20116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8" y="20116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232" y="19933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Cash-Advance Revolvers carry the highest default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2679192"/>
            <a:ext cx="201168" cy="20116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26974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9232" y="26791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Set differentiated credit limits per segment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3364992"/>
            <a:ext cx="201168" cy="20116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1488" y="33832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33649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Flag high-balance revolvers for early intervention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1234440"/>
            <a:ext cx="2148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1234440"/>
            <a:ext cx="2148840" cy="6400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1261872"/>
            <a:ext cx="1965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Customer
Retention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1993392"/>
            <a:ext cx="201168" cy="201168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20116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19933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Identify Dormant customers before they close accounts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2679192"/>
            <a:ext cx="201168" cy="201168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8928" y="26974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26791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Offer loyalty perks to Premium Transactors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3364992"/>
            <a:ext cx="201168" cy="201168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33832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33649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Prevent churn with segment-specific incentives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1234440"/>
            <a:ext cx="2148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06640" y="1234440"/>
            <a:ext cx="2148840" cy="6400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1261872"/>
            <a:ext cx="1965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Product
Recommendation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1993392"/>
            <a:ext cx="201168" cy="20116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6367" y="20116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4112" y="19933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Revolvers → balance-transfer &amp; consolidation loans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79" y="2679192"/>
            <a:ext cx="201168" cy="20116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16367" y="26974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4112" y="26791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Transactors → rewards &amp; cashback credit cards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79" y="3364992"/>
            <a:ext cx="201168" cy="201168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7" y="33832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4112" y="33649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Instalment Buyers → BNPL &amp; low-interest plans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1234440"/>
            <a:ext cx="2148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84080" y="1234440"/>
            <a:ext cx="2148840" cy="6400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19" y="1261872"/>
            <a:ext cx="19659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Reward Program
Targeting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75519" y="1993392"/>
            <a:ext cx="201168" cy="201168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93807" y="20116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31552" y="19933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Match reward type to spending behaviour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75519" y="2679192"/>
            <a:ext cx="201168" cy="201168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93807" y="26974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31552" y="26791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Travel miles for high-spend transactors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75519" y="3364992"/>
            <a:ext cx="201168" cy="201168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93807" y="3383280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31552" y="3364992"/>
            <a:ext cx="1691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Instalment discounts for frequent instalment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CC_GENERAL.csv — Kaggle Credit Card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964692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8458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432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261872"/>
            <a:ext cx="26334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508760"/>
            <a:ext cx="26517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1A3A5C"/>
                </a:solidFill>
                <a:latin typeface="Calibri"/>
              </a:rPr>
              <a:t>8,950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7432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234440"/>
            <a:ext cx="2743200" cy="2560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1261872"/>
            <a:ext cx="26334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Raw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1508760"/>
            <a:ext cx="26517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2E86AB"/>
                </a:solidFill>
                <a:latin typeface="Calibri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27432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743200" cy="25603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261872"/>
            <a:ext cx="26334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After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508760"/>
            <a:ext cx="26517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17A589"/>
                </a:solidFill>
                <a:latin typeface="Calibri"/>
              </a:rPr>
              <a:t>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234440"/>
            <a:ext cx="274320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234440"/>
            <a:ext cx="2743200" cy="25603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261872"/>
            <a:ext cx="26334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Missing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08760"/>
            <a:ext cx="26517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D35400"/>
                </a:solidFill>
                <a:latin typeface="Calibri"/>
              </a:rPr>
              <a:t>314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3957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Key Features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2788920"/>
          <a:ext cx="777239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5"/>
                <a:gridCol w="1514103"/>
                <a:gridCol w="4037610"/>
              </a:tblGrid>
              <a:tr h="29542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Avg monthly outstanding balance ($)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PURCHASES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Total purchases made in period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ONEOFF_PURCHASES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One-off (single) purchase amount ($)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INSTALLMENTS_PURCH.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Instalment purchase amount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CASH_ADVANCE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Total cash advance amount ($)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CREDIT_LIMIT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Customer credit limit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Total payments made ($)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MINIMUM_PAYMENTS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Minimum payments required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PRC_FULL_PAYMENT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 [0,1]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Fraction of months paid in full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PURCHASES_FREQUENCY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 [0,1]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Fraction of months with purchases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CASH_ADV_FREQUENCY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Float [0,1]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Fraction of months with advances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Months as a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8229600" y="2395728"/>
            <a:ext cx="3657600" cy="4233672"/>
          </a:xfrm>
          <a:prstGeom prst="rect">
            <a:avLst/>
          </a:prstGeom>
          <a:solidFill>
            <a:srgbClr val="EBF5FB"/>
          </a:solidFill>
          <a:ln w="1016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395728"/>
            <a:ext cx="3657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423160"/>
            <a:ext cx="33832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Dataset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52928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Source: Kaggle (CC_GENERAL Dataset)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09544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One row per customer (6-month window)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66160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CUST_ID dropped — not a feature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22776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35400"/>
                </a:solidFill>
                <a:latin typeface="Calibri"/>
              </a:rPr>
              <a:t>  Missing: MINIMUM_PAYMENTS (313 rows)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79392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D35400"/>
                </a:solidFill>
                <a:latin typeface="Calibri"/>
              </a:rPr>
              <a:t>  Missing: CREDIT_LIMIT (1 row)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636007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7A589"/>
                </a:solidFill>
                <a:latin typeface="Calibri"/>
              </a:rPr>
              <a:t>  → Both filled with column median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992623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10 monetary features are right-skewed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349239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7A589"/>
                </a:solidFill>
                <a:latin typeface="Calibri"/>
              </a:rPr>
              <a:t>  → log₁p transform applied before scaling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705855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6 frequency features already in [0, 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6062471"/>
            <a:ext cx="342900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7A589"/>
                </a:solidFill>
                <a:latin typeface="Calibri"/>
              </a:rPr>
              <a:t>  → Kept on original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the Data Looks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Feature distributions, missing values, and correlations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857500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273862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6858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Feature Distributions</a:t>
            </a:r>
          </a:p>
        </p:txBody>
      </p:sp>
      <p:pic>
        <p:nvPicPr>
          <p:cNvPr id="12" name="Picture 11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7680960" cy="73543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1234440"/>
            <a:ext cx="3749039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Correlation Heatmap</a:t>
            </a:r>
          </a:p>
        </p:txBody>
      </p:sp>
      <p:pic>
        <p:nvPicPr>
          <p:cNvPr id="14" name="Picture 1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572768"/>
            <a:ext cx="3749039" cy="310732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5989320"/>
            <a:ext cx="11640312" cy="685800"/>
          </a:xfrm>
          <a:prstGeom prst="rect">
            <a:avLst/>
          </a:prstGeom>
          <a:solidFill>
            <a:srgbClr val="EBF5FB"/>
          </a:solidFill>
          <a:ln w="1016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6247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D35400"/>
                </a:solidFill>
                <a:latin typeface="Calibri"/>
              </a:rPr>
              <a:t>Missing Values: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6062472"/>
            <a:ext cx="9052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MINIMUM_PAYMENTS: 313 rows (3.5%) — imputed with median  |  CREDIT_LIMIT: 1 row (&lt;0.01%) — imputed with median  |  All other features: complete  |  No rows removed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End-to-end pipeline for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069848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95097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325880"/>
            <a:ext cx="1536192" cy="1508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
Data
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656" y="1892807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75103" y="1325880"/>
            <a:ext cx="1536192" cy="1508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5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
Exploratory
Data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1892807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7" y="1325880"/>
            <a:ext cx="1536192" cy="150876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
Missing Value
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3" y="1892807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6672" y="1325880"/>
            <a:ext cx="1536192" cy="1508760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
Feature
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1892807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77455" y="1325880"/>
            <a:ext cx="1536192" cy="150876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7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
Clustering
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1892807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1325880"/>
            <a:ext cx="1536192" cy="1508760"/>
          </a:xfrm>
          <a:prstGeom prst="round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
Final Model
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23576" y="1892807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9024" y="1325880"/>
            <a:ext cx="1536192" cy="1508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52176" y="1399032"/>
            <a:ext cx="1426464" cy="1399031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
Segment
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Load CC_GENERAL.csv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Inspect shape &amp; dtypes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Check missing values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75103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3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Distributions &amp; KDE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0823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Boxplot outlier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0823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Correlation heatmap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5887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21607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Identify nulls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1607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Median imputation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607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Verify 0 nulls remain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76672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22392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log₁p on skewed cols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22392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StandardScaler (z-score)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2392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Save scaler to disk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77455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23175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K-Means (k=2–10)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23175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Agg., DBSCAN, GMM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23175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Score 3 metrics each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764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Pick best by silhouette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Interpretability override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Refit on full 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79024" y="3063240"/>
            <a:ext cx="1536192" cy="2697480"/>
          </a:xfrm>
          <a:prstGeom prst="rect">
            <a:avLst/>
          </a:prstGeom>
          <a:solidFill>
            <a:srgbClr val="EBF5F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24744" y="317296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Profile each cluster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4744" y="358444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Name the archetypes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24744" y="3995928"/>
            <a:ext cx="14630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• Business insights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897880"/>
            <a:ext cx="11640312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998464"/>
            <a:ext cx="11274552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9CCE3"/>
                </a:solidFill>
                <a:latin typeface="Calibri"/>
              </a:rPr>
              <a:t>Tools:  Python 3  ·  pandas  ·  NumPy  ·  scikit-learn  ·  SciPy  ·  Matplotlib  ·  Seaborn  ·  Joblib  |  RANDOM_STATE =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Cleaning and preparing the data for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911095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79222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DATA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43200" cy="5166360"/>
          </a:xfrm>
          <a:prstGeom prst="rect">
            <a:avLst/>
          </a:prstGeom>
          <a:solidFill>
            <a:srgbClr val="EBF5FB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274320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252728"/>
            <a:ext cx="2523744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Step 1 — Drop Identifier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1773936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CUST_ID is an arbitrary string ID
(e.g., 'C10001') with no predictive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432304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Keeping it would confuse distance-based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2999232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After dropping: 17 numeric features remain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3566160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Shape: 8,950 rows × 17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234440"/>
            <a:ext cx="2743200" cy="5166360"/>
          </a:xfrm>
          <a:prstGeom prst="rect">
            <a:avLst/>
          </a:prstGeom>
          <a:solidFill>
            <a:srgbClr val="EBF5FB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234440"/>
            <a:ext cx="2743200" cy="4389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1252728"/>
            <a:ext cx="2523744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Step 2 — Missing Value Imputation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1773936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MINIMUM_PAYMENTS: 313 nulls (3.5%)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2340864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CREDIT_LIMIT: 1 null (&lt;0.01%)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2907792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Both columns are right-skewed →
median is more robust than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3566160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Verified: 0 nulls remain after imputation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34440"/>
            <a:ext cx="2743200" cy="5166360"/>
          </a:xfrm>
          <a:prstGeom prst="rect">
            <a:avLst/>
          </a:prstGeom>
          <a:solidFill>
            <a:srgbClr val="EBF5FB"/>
          </a:solidFill>
          <a:ln w="1524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234440"/>
            <a:ext cx="2743200" cy="43891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252728"/>
            <a:ext cx="2523744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Step 3 — Outlier Analysis (No Removal)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1773936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Boxplots reveal extreme outliers in
monetary columns (cash-advance, purchases)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2432304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We do NOT remove outlier rows:
→ Tails often = most interesting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090672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High-spenders and heavy cash-advance
users are valuable segments themselves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749039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Handled via log₁p transform + scaling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1234440"/>
            <a:ext cx="2743200" cy="5166360"/>
          </a:xfrm>
          <a:prstGeom prst="rect">
            <a:avLst/>
          </a:prstGeom>
          <a:solidFill>
            <a:srgbClr val="EBF5FB"/>
          </a:solidFill>
          <a:ln w="1524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1234440"/>
            <a:ext cx="2743200" cy="43891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252728"/>
            <a:ext cx="2523744" cy="3931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Step 4 — log₁p Transform + StandardScaler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6" y="1773936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log₁p applied to 10 skewed monetary cols:
(BALANCE, PURCHASES, CASH_ADVANCE…)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2432304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log₁p(0) = 0  →  zeros are preserved exactly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2999232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StandardScaler: zero mean, unit variance
on all 17 features after log transform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3657600"/>
            <a:ext cx="2487168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•  Fitted scaler saved → reusable for new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473952"/>
            <a:ext cx="1164031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1127455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Result:  8,950 × 17  scaled matrix  (cc_scaled.npy)  ·  Scaler saved to  models/scaler.joblib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Graphs After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Visualising the cleaned, scaled, and transformed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3278124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3159252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POST-PROCESSING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6858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Feature Boxplots (Outlier Profile)</a:t>
            </a:r>
          </a:p>
        </p:txBody>
      </p:sp>
      <p:pic>
        <p:nvPicPr>
          <p:cNvPr id="12" name="Picture 11" descr="feature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7132320" cy="68261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1234440"/>
            <a:ext cx="4297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PCA Cumulative Explained Variance</a:t>
            </a:r>
          </a:p>
        </p:txBody>
      </p:sp>
      <p:pic>
        <p:nvPicPr>
          <p:cNvPr id="14" name="Picture 13" descr="pca_cumulative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72768"/>
            <a:ext cx="4297680" cy="234978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5943600"/>
            <a:ext cx="11640312" cy="713232"/>
          </a:xfrm>
          <a:prstGeom prst="rect">
            <a:avLst/>
          </a:prstGeom>
          <a:solidFill>
            <a:srgbClr val="EBF5FB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076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Key Takeaways: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6007608"/>
            <a:ext cx="90068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C2833"/>
                </a:solidFill>
                <a:latin typeface="Calibri"/>
              </a:rPr>
              <a:t>Boxplots confirm heavy right tails — extreme high-value customers in every monetary column.  PCA shows ~7 components capture 90 % of variance.  We cluster on all 17 scaled features (not on PCA output) to preserve full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K-Means Clustering?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A centroid-based partitional clustering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436876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23180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ALGORITHM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7132320" cy="5166360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6766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Core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6766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C2833"/>
                </a:solidFill>
                <a:latin typeface="Calibri"/>
              </a:rPr>
              <a:t>K-Means partitions n data points into k non-overlapping clusters by iteratively minimising the total within-cluster sum of squared distances (inertia / WCSS) from each point to its assigned centroid.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51760"/>
            <a:ext cx="329184" cy="329184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697479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8833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Randomly initialise k centroids in feature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108960"/>
            <a:ext cx="329184" cy="329184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3154679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14553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Assign each point to the nearest centroid (Euclidean distance)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566160"/>
            <a:ext cx="329184" cy="329184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3611879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60273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Recompute each centroid as the mean of its assigned 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023360"/>
            <a:ext cx="329184" cy="329184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4069080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05993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Repeat steps 2–3 until centroids no longer move (convergence)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80560"/>
            <a:ext cx="329184" cy="329184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4526280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51713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Repeat with multiple random seeds; keep the best-inertia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35400"/>
                </a:solidFill>
                <a:latin typeface="Calibri"/>
              </a:rPr>
              <a:t>⚠  Assumes spherical, similarly-sized clusters.  Sensitive to outliers and random initialisation.  Results vary with k choice.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234440"/>
            <a:ext cx="425196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1234440"/>
            <a:ext cx="425196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1261872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Parameters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1737360"/>
            <a:ext cx="4069080" cy="786384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1801368"/>
            <a:ext cx="1005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1801368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Number of clusters to form.
We sweep k = 2 … 10.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542032"/>
            <a:ext cx="4069080" cy="786384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606039"/>
            <a:ext cx="1005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n_init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606039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How many times to run with
different random seeds (= 10).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3346703"/>
            <a:ext cx="4069080" cy="1042416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3410711"/>
            <a:ext cx="1005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Inertia
(WCSS)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410711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Sum of squared distances from
each point to its centroid.
Lower = tighter clusters.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4261104"/>
            <a:ext cx="4069080" cy="1042416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82127" y="4325112"/>
            <a:ext cx="1005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Silhouette
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325112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Measures how much more tightly
a point fits its own cluster
vs. the nearest other cluster.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5175504"/>
            <a:ext cx="4069080" cy="786384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2127" y="5239512"/>
            <a:ext cx="1005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A3A5C"/>
                </a:solidFill>
                <a:latin typeface="Calibri"/>
              </a:rPr>
              <a:t>random_state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239512"/>
            <a:ext cx="2697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Fixed at 42 for
reproducibility.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K-Means — Results &amp;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Elbow method, silhouette analysis, and final k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700784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581912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K-MEANS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40233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Inertia (Elbow Curve)</a:t>
            </a:r>
          </a:p>
        </p:txBody>
      </p:sp>
      <p:pic>
        <p:nvPicPr>
          <p:cNvPr id="12" name="Picture 11" descr="kmeans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4023360" cy="21998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0560" y="1234440"/>
            <a:ext cx="40233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Silhouette Score vs k</a:t>
            </a:r>
          </a:p>
        </p:txBody>
      </p:sp>
      <p:pic>
        <p:nvPicPr>
          <p:cNvPr id="14" name="Picture 13" descr="kmeans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72768"/>
            <a:ext cx="4023360" cy="21998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0" y="1234440"/>
            <a:ext cx="3246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PCA-2D Scatter  (k = 4)</a:t>
            </a:r>
          </a:p>
        </p:txBody>
      </p:sp>
      <p:pic>
        <p:nvPicPr>
          <p:cNvPr id="16" name="Picture 15" descr="kmeans_pca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572768"/>
            <a:ext cx="3246120" cy="22488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320" y="4663440"/>
            <a:ext cx="8229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K-Means Metrics per k  (best = k=4, selected for interpretability)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5047488"/>
          <a:ext cx="8229599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19"/>
                <a:gridCol w="1440180"/>
                <a:gridCol w="1543050"/>
                <a:gridCol w="1851660"/>
                <a:gridCol w="2777490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Silhouette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Davies-Bouldin ↓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Calinski-Harabasz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0.2515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1.507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3,064.9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Auto peak — too coarse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2,642.9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4 ★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0.2166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1.688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2,260.4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Selected — inertia elbow + interpretability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2,129.6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0.2204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1.424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1,845.8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Metric best (excluding k=2) — too many segments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8686800" y="4663440"/>
            <a:ext cx="3246120" cy="1956816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4663440"/>
            <a:ext cx="32461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690872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k = 4?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5102352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•  Silhouette peaks at k=2 — but 2 clusters
masks distinct customer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5605272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•  k=4 sits at the inertia elbow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6108192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•  4 clusters → 4 interpretable archetypes:
Dormant, Revolvers, Transactors,
Instalment Buyers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DBSCAN?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Density-Based Spatial Clustering of Applications with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436876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23180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ALGORITHM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7132320" cy="5166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6766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Core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6766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C2833"/>
                </a:solidFill>
                <a:latin typeface="Calibri"/>
              </a:rPr>
              <a:t>DBSCAN discovers clusters as dense regions of points separated by low-density gaps. It does NOT require specifying k in advance. Instead, it defines clusters by two parameters (ε and min_samples) and automatically labels points in sparse regions as noise (label = –1).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43200"/>
            <a:ext cx="1371600" cy="402336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07208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Core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07208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Has ≥ min_samples neighbours within radius 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10128"/>
            <a:ext cx="1371600" cy="402336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74136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374136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Within ε of a core point, but fewer neighbours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77056"/>
            <a:ext cx="1371600" cy="402336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41064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Noise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94106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Not reachable from any core point → label = –1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443984"/>
            <a:ext cx="1371600" cy="402336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07992"/>
            <a:ext cx="1280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All density-connected core + border points together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35400"/>
                </a:solidFill>
                <a:latin typeface="Calibri"/>
              </a:rPr>
              <a:t>⚠  Struggles in high-dimensional, uniformly dense data (like financial features).  ε is hard to tune — too small = everything is noise, too large = one giant cluster.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234440"/>
            <a:ext cx="425196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1234440"/>
            <a:ext cx="42519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261872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Parameters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406908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1801368"/>
            <a:ext cx="1005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ε (eps)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801368"/>
            <a:ext cx="2697480" cy="7589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Maximum neighbourhood radius.
Chosen from k-distance plot elbow.
We swept: 1.55, 1.88, 2.21, 2.65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660904"/>
            <a:ext cx="406908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2724912"/>
            <a:ext cx="1005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min_samples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724912"/>
            <a:ext cx="2697480" cy="7589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Min. points to form a core point.
Set to 5 throughout.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584448"/>
            <a:ext cx="406908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648456"/>
            <a:ext cx="1005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label = –1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648456"/>
            <a:ext cx="2697480" cy="7589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Points that are noise — not
assigned to any cluster.
Problematic for business use.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507992"/>
            <a:ext cx="4069080" cy="960120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4572000"/>
            <a:ext cx="1005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C0392B"/>
                </a:solidFill>
                <a:latin typeface="Calibri"/>
              </a:rPr>
              <a:t>k-Distance
Plot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572000"/>
            <a:ext cx="2697480" cy="8503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Sort the 5th-nearest-neighbour
distance for every point.
Elbow → good ε candidate.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DBSCAN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k-distance elbow, parameter sweep, and PCA visualisation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595628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47675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DBSCAN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5303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k-Distance Plot (k=5)  →  choosing ε</a:t>
            </a:r>
          </a:p>
        </p:txBody>
      </p:sp>
      <p:pic>
        <p:nvPicPr>
          <p:cNvPr id="12" name="Picture 11" descr="dbscan_k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5303520" cy="26050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06440" y="1234440"/>
            <a:ext cx="61081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PCA-2D Scatter  (ε = 2.21,  grey = noise)</a:t>
            </a:r>
          </a:p>
        </p:txBody>
      </p:sp>
      <p:pic>
        <p:nvPicPr>
          <p:cNvPr id="14" name="Picture 13" descr="dbscan_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72768"/>
            <a:ext cx="6108192" cy="42317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4663440"/>
            <a:ext cx="5943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ε Sweep Results  (min_samples = 5)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5047488"/>
          <a:ext cx="5943599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50"/>
                <a:gridCol w="1300162"/>
                <a:gridCol w="1393031"/>
                <a:gridCol w="1114425"/>
                <a:gridCol w="1393031"/>
              </a:tblGrid>
              <a:tr h="31455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ε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Clusters Found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Noise Points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Silhouette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Davies-Bouldin ↓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1,029  (11.5%)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−0.211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419   (4.7%)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−0.123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2.21 ★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153   (1.7%)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0.063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1.251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34    (0.4%)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400800" y="4663440"/>
            <a:ext cx="5532120" cy="1956816"/>
          </a:xfrm>
          <a:prstGeom prst="rect">
            <a:avLst/>
          </a:prstGeom>
          <a:solidFill>
            <a:srgbClr val="FFEE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663440"/>
            <a:ext cx="55321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90872"/>
            <a:ext cx="5212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Honest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93208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✗  Best silhouette 0.063 — far below K-Means (0.217)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9496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✗  Credit card data has no geometric density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69671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✗  ~1.7 % of customers labelled 'noise' — unusable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99846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✗  ε is very hard to tune in 17-D feature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300216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0392B"/>
                </a:solidFill>
                <a:latin typeface="Calibri"/>
              </a:rPr>
              <a:t>    →  DBSCAN not selected as final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Gaussian Mixture Model (GMM)?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Probabilistic soft-assignment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436876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23180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ALGORITHM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7132320" cy="5166360"/>
          </a:xfrm>
          <a:prstGeom prst="rect">
            <a:avLst/>
          </a:prstGeom>
          <a:solidFill>
            <a:srgbClr val="EBF5FB"/>
          </a:solidFill>
          <a:ln w="1270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6766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7A589"/>
                </a:solidFill>
                <a:latin typeface="Calibri"/>
              </a:rPr>
              <a:t>Core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67665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C2833"/>
                </a:solidFill>
                <a:latin typeface="Calibri"/>
              </a:rPr>
              <a:t>GMM models the data as a mixture of k multivariate Gaussian distributions (ellipsoidal clusters). Unlike K-Means which makes hard assignments, GMM gives each point a probability of belonging to each component — this is called soft clustering. The EM algorithm is used to fit the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1371600" cy="54864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9864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One Gaussian (ellipsoid) in the mixture — each has its own mean, covariance, and weight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11296"/>
            <a:ext cx="1371600" cy="658368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02736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Soft
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575303"/>
            <a:ext cx="53035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Each point gets a probability vector across all k components.
Final label = component with highest probability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297680"/>
            <a:ext cx="1371600" cy="54864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280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EM Algorithm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61688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Expectation-Maximisation iteratively estimates component parameters until convergence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974336"/>
            <a:ext cx="1371600" cy="658368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065776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covariance
type='full'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038344"/>
            <a:ext cx="53035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Each component has its own full covariance matrix — the most flexible but expensive 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8"/>
            <a:ext cx="6766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35400"/>
                </a:solidFill>
                <a:latin typeface="Calibri"/>
              </a:rPr>
              <a:t>⚠  More expressive than K-Means but uses far more parameters.  BIC and AIC penalise complexity and help select the right number of components.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234440"/>
            <a:ext cx="425196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1234440"/>
            <a:ext cx="425196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261872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Parameters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406908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1801368"/>
            <a:ext cx="1097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7A589"/>
                </a:solidFill>
                <a:latin typeface="Calibri"/>
              </a:rPr>
              <a:t>n_components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1801368"/>
            <a:ext cx="260604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Number of Gaussian components.
We sweep n = 2 … 8.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596896"/>
            <a:ext cx="406908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2660903"/>
            <a:ext cx="1097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7A589"/>
                </a:solidFill>
                <a:latin typeface="Calibri"/>
              </a:rPr>
              <a:t>covariance
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660903"/>
            <a:ext cx="26060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Shape of each cluster ellipsoid.
'full' = each has own covariance.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566160"/>
            <a:ext cx="406908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630168"/>
            <a:ext cx="1097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7A589"/>
                </a:solidFill>
                <a:latin typeface="Calibri"/>
              </a:rPr>
              <a:t>BIC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630168"/>
            <a:ext cx="260604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Bayesian Information Criterion.
Lower BIC = better fit with
complexity penalty.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425696"/>
            <a:ext cx="406908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4489704"/>
            <a:ext cx="1097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7A589"/>
                </a:solidFill>
                <a:latin typeface="Calibri"/>
              </a:rPr>
              <a:t>AIC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489704"/>
            <a:ext cx="260604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Akaike Information Criterion.
Similar to BIC but weaker
complexity penalty.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5285231"/>
            <a:ext cx="406908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82127" y="5349240"/>
            <a:ext cx="109728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7A589"/>
                </a:solidFill>
                <a:latin typeface="Calibri"/>
              </a:rPr>
              <a:t>max_iter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349240"/>
            <a:ext cx="260604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Max EM iterations = 200.
random_state = 42.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GMM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BIC/AIC curves, metrics, and PCA visualisation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280160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16128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GMM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5943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7A589"/>
                </a:solidFill>
                <a:latin typeface="Calibri"/>
              </a:rPr>
              <a:t>BIC and AIC vs n_components</a:t>
            </a:r>
          </a:p>
        </p:txBody>
      </p:sp>
      <p:pic>
        <p:nvPicPr>
          <p:cNvPr id="12" name="Picture 11" descr="gmm_bic_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5943600" cy="3245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1234440"/>
            <a:ext cx="5532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7A589"/>
                </a:solidFill>
                <a:latin typeface="Calibri"/>
              </a:rPr>
              <a:t>PCA-2D Scatter  (n = 2, best silhouette)</a:t>
            </a:r>
          </a:p>
        </p:txBody>
      </p:sp>
      <p:pic>
        <p:nvPicPr>
          <p:cNvPr id="14" name="Picture 13" descr="gmm_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72768"/>
            <a:ext cx="5532120" cy="3832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4663440"/>
            <a:ext cx="5943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7A589"/>
                </a:solidFill>
                <a:latin typeface="Calibri"/>
              </a:rPr>
              <a:t>GMM Metrics per n_components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5047488"/>
          <a:ext cx="594359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616"/>
                <a:gridCol w="1169232"/>
                <a:gridCol w="1461540"/>
                <a:gridCol w="1753849"/>
                <a:gridCol w="974360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Silhouette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Davies-Bouldin ↓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Calinski-Harabasz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BIC ↓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 ★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0.2105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1.826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2,382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66,352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−71,190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0.1537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1.954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1,956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−114,683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−255,534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0.1449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1.901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1,642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−322,300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400800" y="4663440"/>
            <a:ext cx="5532120" cy="1956816"/>
          </a:xfrm>
          <a:prstGeom prst="rect">
            <a:avLst/>
          </a:prstGeom>
          <a:solidFill>
            <a:srgbClr val="EBF5FB"/>
          </a:solidFill>
          <a:ln w="1270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663440"/>
            <a:ext cx="5532120" cy="34747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90872"/>
            <a:ext cx="5212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GMM vs. K-Means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8406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Best silhouette 0.2105 at n=2 (vs K-Means 0.2166)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85816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BIC decreases monotonically — no clear optimum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687568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Soft assignments add no interpretability benefit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9893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K-Means centroids are more readable as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29107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7A589"/>
                </a:solidFill>
                <a:latin typeface="Calibri"/>
              </a:rPr>
              <a:t>  ★  →  GMM competitive but K-Means wins on interpretability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Agglomerative Clustering?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Hierarchical bottom-up clustering with Ward linkage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436876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231800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ALGORITHM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7132320" cy="5166360"/>
          </a:xfrm>
          <a:prstGeom prst="rect">
            <a:avLst/>
          </a:prstGeom>
          <a:solidFill>
            <a:srgbClr val="EBF5FB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6766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8449"/>
                </a:solidFill>
                <a:latin typeface="Calibri"/>
              </a:rPr>
              <a:t>Core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67665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C2833"/>
                </a:solidFill>
                <a:latin typeface="Calibri"/>
              </a:rPr>
              <a:t>Agglomerative Clustering builds a hierarchy of clusters from the bottom up. It starts with every point as its own cluster, then iteratively merges the two closest clusters until only k clusters remain. The merge history can be visualised as a dendrogram, which helps choose k visually.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329184" cy="32918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2880360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87121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Start: each of the 8,950 customers is its own cluster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91840"/>
            <a:ext cx="329184" cy="32918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3337560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32841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Find the pair of clusters with the smallest merge distance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49039"/>
            <a:ext cx="329184" cy="32918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3794759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785615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Merge them into one cluster (Ward: minimise total within-cluster variance)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06240"/>
            <a:ext cx="329184" cy="32918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4251959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4281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Repeat until exactly k clusters remain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663440"/>
            <a:ext cx="329184" cy="32918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4709159"/>
            <a:ext cx="3108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700016"/>
            <a:ext cx="6309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C2833"/>
                </a:solidFill>
                <a:latin typeface="Calibri"/>
              </a:rPr>
              <a:t>The dendrogram records every merge — large jumps = natural cut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30368"/>
            <a:ext cx="6766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D35400"/>
                </a:solidFill>
                <a:latin typeface="Calibri"/>
              </a:rPr>
              <a:t>⚠  Does not scale well to very large datasets (O(n²) memory).  No predict() method — labels come from labels_ attribute only.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234440"/>
            <a:ext cx="4251960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0" y="1234440"/>
            <a:ext cx="4251960" cy="38404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1261872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Parameters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1737360"/>
            <a:ext cx="4069080" cy="841248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1801368"/>
            <a:ext cx="10972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E8449"/>
                </a:solidFill>
                <a:latin typeface="Calibri"/>
              </a:rPr>
              <a:t>n_clusters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1801368"/>
            <a:ext cx="2606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Number of clusters to cut the
hierarchy at.
We sweep n = 2 … 8.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633472"/>
            <a:ext cx="4069080" cy="960120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697479"/>
            <a:ext cx="10972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E8449"/>
                </a:solidFill>
                <a:latin typeface="Calibri"/>
              </a:rPr>
              <a:t>linkage
= 'ward'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697479"/>
            <a:ext cx="2606040" cy="8503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How to measure distance between
clusters. Ward minimises total
within-cluster variance.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3648456"/>
            <a:ext cx="4069080" cy="841248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3712464"/>
            <a:ext cx="10972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E8449"/>
                </a:solidFill>
                <a:latin typeface="Calibri"/>
              </a:rPr>
              <a:t>Dendrogram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712464"/>
            <a:ext cx="2606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Tree diagram of merge history.
Large vertical jumps indicate
natural cluster boundaries.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4544568"/>
            <a:ext cx="4069080" cy="841248"/>
          </a:xfrm>
          <a:prstGeom prst="rect">
            <a:avLst/>
          </a:prstGeom>
          <a:solidFill>
            <a:srgbClr val="EBF5FB"/>
          </a:solidFill>
          <a:ln w="635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82127" y="4608576"/>
            <a:ext cx="10972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E8449"/>
                </a:solidFill>
                <a:latin typeface="Calibri"/>
              </a:rPr>
              <a:t>Affinity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608576"/>
            <a:ext cx="2606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Distance metric (default:
Euclidean). Ward linkage
requires Euclidean.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Agglomerative Clustering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Ward-linkage dendrogram and PCA visualisation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2331720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221284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AGGLOMERATIVE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63093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Dendrogram  (500-row sample, Ward linkage)</a:t>
            </a:r>
          </a:p>
        </p:txBody>
      </p:sp>
      <p:pic>
        <p:nvPicPr>
          <p:cNvPr id="12" name="Picture 11" descr="agglomerative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6309360" cy="2662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1234440"/>
            <a:ext cx="51663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8449"/>
                </a:solidFill>
                <a:latin typeface="Calibri"/>
              </a:rPr>
              <a:t>PCA-2D Scatter  (n = 2, best silhouette)</a:t>
            </a:r>
          </a:p>
        </p:txBody>
      </p:sp>
      <p:pic>
        <p:nvPicPr>
          <p:cNvPr id="14" name="Picture 13" descr="agglomerative_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72768"/>
            <a:ext cx="5166360" cy="35792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4663440"/>
            <a:ext cx="63093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8449"/>
                </a:solidFill>
                <a:latin typeface="Calibri"/>
              </a:rPr>
              <a:t>Agglomerative Metrics per 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5047488"/>
          <a:ext cx="630935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725"/>
                <a:gridCol w="1606018"/>
                <a:gridCol w="1720734"/>
                <a:gridCol w="2064881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Silhouette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Davies-Bouldin ↓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Calinski-Harabasz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 ★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0.2154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1.522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2,251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0.1658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1.733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1,734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0.1632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1.678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1,498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766560" y="4663440"/>
            <a:ext cx="5166360" cy="1956816"/>
          </a:xfrm>
          <a:prstGeom prst="rect">
            <a:avLst/>
          </a:prstGeom>
          <a:solidFill>
            <a:srgbClr val="EBF5FB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663440"/>
            <a:ext cx="5166360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690872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084064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Best silhouette 0.2154 at n=2 — close to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85816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Ward linkage gives clean, balanced dendrogram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687568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Best DB (1.522) — clusters are well-separated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9893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  •  But n=2 is too coarse; n=4 silhouette drops to 0.166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291072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E8449"/>
                </a:solidFill>
                <a:latin typeface="Calibri"/>
              </a:rPr>
              <a:t>  ★  →  K-Means k=4 preferred for interpretable segments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Algorithm Comparison &amp; Final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Choosing the winner using metrics + 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805940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687068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MODEL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6858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Best Configuration per Algorithm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627632"/>
          <a:ext cx="822959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686"/>
                <a:gridCol w="1341782"/>
                <a:gridCol w="1073426"/>
                <a:gridCol w="1341782"/>
                <a:gridCol w="1520686"/>
                <a:gridCol w="626165"/>
                <a:gridCol w="805069"/>
              </a:tblGrid>
              <a:tr h="35112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Silhouette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Davies-Bouldin ↓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Calinski-Harabasz ↑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K-Means  ★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k = 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0.2166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1.688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2,260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Agglomerative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n=2, 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GMM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n=2, full cov.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0.2105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1.826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2,382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66,352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3511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ε=2.21, min=5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0.0634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1.251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algorithm_comparison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34440"/>
            <a:ext cx="3246120" cy="17748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4320" y="3566160"/>
            <a:ext cx="2743200" cy="2697480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274320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593592"/>
            <a:ext cx="25237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K-Means Wins on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4041648"/>
            <a:ext cx="2487168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Highest silhouette (0.2166) + Highest Calinski-Harabasz (2,260).
Centroids are directly readable as average customer behaviour.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566160"/>
            <a:ext cx="2743200" cy="2697480"/>
          </a:xfrm>
          <a:prstGeom prst="rect">
            <a:avLst/>
          </a:prstGeom>
          <a:solidFill>
            <a:srgbClr val="EBF5F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3566160"/>
            <a:ext cx="27432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3593592"/>
            <a:ext cx="25237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DBSCAN Eliminated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4041648"/>
            <a:ext cx="2487168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Silhouette 0.063 — far below all others.
Labels 153 customers as noise — unusable for business.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566160"/>
            <a:ext cx="2743200" cy="2697480"/>
          </a:xfrm>
          <a:prstGeom prst="rect">
            <a:avLst/>
          </a:prstGeom>
          <a:solidFill>
            <a:srgbClr val="EBF5FB"/>
          </a:solidFill>
          <a:ln w="1270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566160"/>
            <a:ext cx="274320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593592"/>
            <a:ext cx="25237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GMM Competitive but 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041648"/>
            <a:ext cx="2487168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Silhouette slightly lower than K-Means.
No interpretability advantage from soft assignments here.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3566160"/>
            <a:ext cx="2743200" cy="2697480"/>
          </a:xfrm>
          <a:prstGeom prst="rect">
            <a:avLst/>
          </a:prstGeom>
          <a:solidFill>
            <a:srgbClr val="EBF5FB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3566160"/>
            <a:ext cx="2743200" cy="38404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3593592"/>
            <a:ext cx="25237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Agglomerative — Good DB, Wrong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6" y="4041648"/>
            <a:ext cx="2487168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alibri"/>
              </a:rPr>
              <a:t>Best Davies-Bouldin (1.522) at n=2, but n=4 drops to 0.166.
No clear elbow to justify 4 segments.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446520"/>
            <a:ext cx="11640312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64808"/>
            <a:ext cx="1127455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★  Final model:  K-Means  k = 4   (silhouette=0.2166,  DB=1.688,  CH=2,260)  —  interpretability override from auto-peak at k=2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Modeling — Fitting the Final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Refitting K-Means k=4 cleanly on the full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1385316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126644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1828800" cy="4389120"/>
          </a:xfrm>
          <a:prstGeom prst="rect">
            <a:avLst/>
          </a:prstGeom>
          <a:solidFill>
            <a:srgbClr val="EBF5FB"/>
          </a:solidFill>
          <a:ln w="1397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18288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52728"/>
            <a:ext cx="1691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Load Best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828800"/>
            <a:ext cx="1700784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1920240"/>
            <a:ext cx="160020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ourier New"/>
              </a:rPr>
              <a:t>Read outputs/results/best_model_choice.json
Confirm: algorithm=KMeans, params='k=4'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4231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A3A5C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1234440"/>
            <a:ext cx="1828800" cy="4389120"/>
          </a:xfrm>
          <a:prstGeom prst="rect">
            <a:avLst/>
          </a:prstGeom>
          <a:solidFill>
            <a:srgbClr val="EBF5FB"/>
          </a:solidFill>
          <a:ln w="1397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31720" y="1234440"/>
            <a:ext cx="18288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1252728"/>
            <a:ext cx="1691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Instantiate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2" y="1828800"/>
            <a:ext cx="1700784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1920240"/>
            <a:ext cx="160020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ourier New"/>
              </a:rPr>
              <a:t>KMeans(n_clusters=4,
  random_state=42,
  n_init=10)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24231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E86A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234440"/>
            <a:ext cx="1828800" cy="4389120"/>
          </a:xfrm>
          <a:prstGeom prst="rect">
            <a:avLst/>
          </a:prstGeom>
          <a:solidFill>
            <a:srgbClr val="EBF5FB"/>
          </a:solidFill>
          <a:ln w="1397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234440"/>
            <a:ext cx="1828800" cy="4572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1252728"/>
            <a:ext cx="1691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Fit on Full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2272" y="1828800"/>
            <a:ext cx="1700784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920240"/>
            <a:ext cx="160020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ourier New"/>
              </a:rPr>
              <a:t>model.fit(X_scaled)
X_scaled = cc_scaled.npy
(8,950 × 17 matrix)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24231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7A589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1234440"/>
            <a:ext cx="1828800" cy="4389120"/>
          </a:xfrm>
          <a:prstGeom prst="rect">
            <a:avLst/>
          </a:prstGeom>
          <a:solidFill>
            <a:srgbClr val="EBF5FB"/>
          </a:solidFill>
          <a:ln w="1397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1234440"/>
            <a:ext cx="1828800" cy="457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1252728"/>
            <a:ext cx="1691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4. Get Labels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9672" y="1828800"/>
            <a:ext cx="1700784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160020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ourier New"/>
              </a:rPr>
              <a:t>labels = model.predict(X)
Returns cluster ID (0,1,2,3)
for each of 8,950 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24231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E8449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1234440"/>
            <a:ext cx="1828800" cy="4389120"/>
          </a:xfrm>
          <a:prstGeom prst="rect">
            <a:avLst/>
          </a:prstGeom>
          <a:solidFill>
            <a:srgbClr val="EBF5FB"/>
          </a:solidFill>
          <a:ln w="1397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0" y="1234440"/>
            <a:ext cx="1828800" cy="4572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1252728"/>
            <a:ext cx="1691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5. Compute Final
Metrics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7072" y="1828800"/>
            <a:ext cx="1700784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1920240"/>
            <a:ext cx="1600200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ourier New"/>
              </a:rPr>
              <a:t>Silhouette:   0.2166
Davies-Bouldin: 1.688
Calinski-Harabasz: 2,260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8" y="24231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D35400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1234440"/>
            <a:ext cx="1874519" cy="4389120"/>
          </a:xfrm>
          <a:prstGeom prst="rect">
            <a:avLst/>
          </a:prstGeom>
          <a:solidFill>
            <a:srgbClr val="EBF5FB"/>
          </a:solidFill>
          <a:ln w="13970">
            <a:solidFill>
              <a:srgbClr val="764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0" y="1234440"/>
            <a:ext cx="1874519" cy="457200"/>
          </a:xfrm>
          <a:prstGeom prst="rect">
            <a:avLst/>
          </a:prstGeom>
          <a:solidFill>
            <a:srgbClr val="76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252728"/>
            <a:ext cx="17373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6. Persist Results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1552" y="1828800"/>
            <a:ext cx="1746503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764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1920240"/>
            <a:ext cx="1645919" cy="2606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C2833"/>
                </a:solidFill>
                <a:latin typeface="Courier New"/>
              </a:rPr>
              <a:t>models/final_model.joblib
models/cluster_labels.npy
outputs/results/final_metrics.json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806440"/>
            <a:ext cx="1164031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8521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9CCE3"/>
                </a:solidFill>
                <a:latin typeface="Calibri"/>
              </a:rPr>
              <a:t>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852160"/>
            <a:ext cx="94183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Each of the 8,950 customers receives a cluster label (0 – 3).  Labels attached to cc_clean.csv (original un-scaled values) for interpretable profiling.  Model and scaler persisted for scoring new customers.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05156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Final Results — Customer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91440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9CCE3"/>
                </a:solidFill>
                <a:latin typeface="Calibri"/>
              </a:rPr>
              <a:t>Four interpretable archetypes from K-Means k=4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1097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A9CCE3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68680"/>
            <a:ext cx="964692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8458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7F8C8D"/>
                </a:solidFill>
                <a:latin typeface="Calibri"/>
              </a:rPr>
              <a:t>Slide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Cluster Sizes</a:t>
            </a:r>
          </a:p>
        </p:txBody>
      </p:sp>
      <p:pic>
        <p:nvPicPr>
          <p:cNvPr id="12" name="Picture 11" descr="final_cluster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36192"/>
            <a:ext cx="3474720" cy="21421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1920" y="123444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PCA-2D Cluster Visualization</a:t>
            </a:r>
          </a:p>
        </p:txBody>
      </p:sp>
      <p:pic>
        <p:nvPicPr>
          <p:cNvPr id="14" name="Picture 13" descr="final_cluster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536192"/>
            <a:ext cx="3931920" cy="273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20" y="1234440"/>
            <a:ext cx="3886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3A5C"/>
                </a:solidFill>
                <a:latin typeface="Calibri"/>
              </a:rPr>
              <a:t>Cluster Profile Heatmap</a:t>
            </a:r>
          </a:p>
        </p:txBody>
      </p:sp>
      <p:pic>
        <p:nvPicPr>
          <p:cNvPr id="16" name="Picture 15" descr="cluster_profile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36192"/>
            <a:ext cx="3886200" cy="185429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74320" y="4754880"/>
            <a:ext cx="2743200" cy="1920240"/>
          </a:xfrm>
          <a:prstGeom prst="rect">
            <a:avLst/>
          </a:prstGeom>
          <a:solidFill>
            <a:srgbClr val="EBF5FB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754880"/>
            <a:ext cx="27432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7731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Cluster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974336"/>
            <a:ext cx="25237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Dormant / Light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285232"/>
            <a:ext cx="2523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7F8C8D"/>
                </a:solidFill>
                <a:latin typeface="Calibri"/>
              </a:rPr>
              <a:t>~48%  ·  ~4,300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555955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Avg Balance: $214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583387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Avg Purchases: $351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610819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Purchase Freq: 0.25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638251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2E86AB"/>
                </a:solidFill>
                <a:latin typeface="Calibri"/>
              </a:rPr>
              <a:t>  → Rarely use the card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4754880"/>
            <a:ext cx="2743200" cy="1920240"/>
          </a:xfrm>
          <a:prstGeom prst="rect">
            <a:avLst/>
          </a:prstGeom>
          <a:solidFill>
            <a:srgbClr val="EBF5FB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4754880"/>
            <a:ext cx="27432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47731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Cluster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974336"/>
            <a:ext cx="25237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Cash-Advance Revolvers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5285232"/>
            <a:ext cx="2523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7F8C8D"/>
                </a:solidFill>
                <a:latin typeface="Calibri"/>
              </a:rPr>
              <a:t>~13%  ·  ~1,200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555955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Cash Advance: $2,220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9272" y="583387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Full-Pay Rate: 0.03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9272" y="610819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Balance: $2,461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9272" y="638251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C0392B"/>
                </a:solidFill>
                <a:latin typeface="Calibri"/>
              </a:rPr>
              <a:t>  → Card used as a loan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754880"/>
            <a:ext cx="2743200" cy="1920240"/>
          </a:xfrm>
          <a:prstGeom prst="rect">
            <a:avLst/>
          </a:prstGeom>
          <a:solidFill>
            <a:srgbClr val="EBF5FB"/>
          </a:solidFill>
          <a:ln w="1524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754880"/>
            <a:ext cx="2743200" cy="5486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47731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Cluster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974336"/>
            <a:ext cx="25237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Premium Transactors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85232"/>
            <a:ext cx="2523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7F8C8D"/>
                </a:solidFill>
                <a:latin typeface="Calibri"/>
              </a:rPr>
              <a:t>~19%  ·  ~1,730 customers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555955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Purchases: $2,604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83387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Credit Limit: $6,393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610819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~35 TRX/month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638251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E8449"/>
                </a:solidFill>
                <a:latin typeface="Calibri"/>
              </a:rPr>
              <a:t>  → High-value, high-spend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4754880"/>
            <a:ext cx="2743200" cy="1920240"/>
          </a:xfrm>
          <a:prstGeom prst="rect">
            <a:avLst/>
          </a:prstGeom>
          <a:solidFill>
            <a:srgbClr val="EBF5FB"/>
          </a:solidFill>
          <a:ln w="1524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89720" y="4754880"/>
            <a:ext cx="2743200" cy="54864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47731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Cluster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4974336"/>
            <a:ext cx="25237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Instalment Buyers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5285232"/>
            <a:ext cx="2523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7F8C8D"/>
                </a:solidFill>
                <a:latin typeface="Calibri"/>
              </a:rPr>
              <a:t>~19%  ·  ~1,720 customers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555955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Instalment Spend: $631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583387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Instalment Freq: 0.76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62872" y="610819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1C2833"/>
                </a:solidFill>
                <a:latin typeface="Calibri"/>
              </a:rPr>
              <a:t>  Full-Pay Rate: 0.29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6382512"/>
            <a:ext cx="25786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35400"/>
                </a:solidFill>
                <a:latin typeface="Calibri"/>
              </a:rPr>
              <a:t>  → Disciplined spenders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73152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5486400" cy="5120640"/>
          </a:xfrm>
          <a:prstGeom prst="rect">
            <a:avLst/>
          </a:prstGeom>
          <a:solidFill>
            <a:srgbClr val="1E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A9CCE3"/>
                </a:solidFill>
                <a:latin typeface="Calibri"/>
              </a:rPr>
              <a:t>What We Achieved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536192"/>
            <a:ext cx="256032" cy="2560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572768"/>
            <a:ext cx="23774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554480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Applied 4 clustering algorithms to 8,950 credit card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011680"/>
            <a:ext cx="256032" cy="2560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048256"/>
            <a:ext cx="23774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029968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Evaluated each with Silhouette, Davies-Bouldin, and Calinski-Harabasz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2487168"/>
            <a:ext cx="256032" cy="2560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523744"/>
            <a:ext cx="23774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505456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Selected K-Means k=4 — best metrics + highest interpretability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962656"/>
            <a:ext cx="256032" cy="2560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999232"/>
            <a:ext cx="23774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980944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Discovered 4 distinct behavioral archetypes in the customer 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438144"/>
            <a:ext cx="256032" cy="2560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474720"/>
            <a:ext cx="23774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456432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Mapped each segment to specific banking products and strategies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3913632"/>
            <a:ext cx="256032" cy="2560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950208"/>
            <a:ext cx="23774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48463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Persisted fitted model and scaler for deployment on new customers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024128"/>
            <a:ext cx="5806440" cy="2468880"/>
          </a:xfrm>
          <a:prstGeom prst="rect">
            <a:avLst/>
          </a:prstGeom>
          <a:solidFill>
            <a:srgbClr val="1E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097280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A9CCE3"/>
                </a:solidFill>
                <a:latin typeface="Calibri"/>
              </a:rPr>
              <a:t>Business Value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536192"/>
            <a:ext cx="1280160" cy="420624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09344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C0 Dormant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1609344"/>
            <a:ext cx="4206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Re-engagement campaigns, fee waivers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048256"/>
            <a:ext cx="1280160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12140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C1 Revolvers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2121408"/>
            <a:ext cx="4206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Balance-transfer, risk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560320"/>
            <a:ext cx="1280160" cy="420624"/>
          </a:xfrm>
          <a:prstGeom prst="round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63347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C2 Transactors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2633472"/>
            <a:ext cx="4206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Premium rewards, credit limit upgrades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072384"/>
            <a:ext cx="1280160" cy="420624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14553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C3 Instalment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3145536"/>
            <a:ext cx="4206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BNPL cross-sell, low-rate plans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675887"/>
            <a:ext cx="5806440" cy="2560320"/>
          </a:xfrm>
          <a:prstGeom prst="rect">
            <a:avLst/>
          </a:prstGeom>
          <a:solidFill>
            <a:srgbClr val="1E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749039"/>
            <a:ext cx="5394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A9CCE3"/>
                </a:solidFill>
                <a:latin typeface="Calibri"/>
              </a:rPr>
              <a:t>Future Improvements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160520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CE0F0"/>
                </a:solidFill>
                <a:latin typeface="Calibri"/>
              </a:rPr>
              <a:t>  →  Apply log₁p transform as part of the pipeline (already done in this project)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507992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CE0F0"/>
                </a:solidFill>
                <a:latin typeface="Calibri"/>
              </a:rPr>
              <a:t>  →  Experiment with outlier capping (IQR method) before scaling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855464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CE0F0"/>
                </a:solidFill>
                <a:latin typeface="Calibri"/>
              </a:rPr>
              <a:t>  →  Try more advanced metrics: Gap Statistic, Hopkins test for clusterability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202936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CE0F0"/>
                </a:solidFill>
                <a:latin typeface="Calibri"/>
              </a:rPr>
              <a:t>  →  Enrich with demographic data (age, income, region) for richer segments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550407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CE0F0"/>
                </a:solidFill>
                <a:latin typeface="Calibri"/>
              </a:rPr>
              <a:t>  →  Deploy model as REST API — score new customers at onboarding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897879"/>
            <a:ext cx="5577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CCE0F0"/>
                </a:solidFill>
                <a:latin typeface="Calibri"/>
              </a:rPr>
              <a:t>  →  Re-run segmentation quarterly to detect segment migration over time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0F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391656"/>
            <a:ext cx="114574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C85AD"/>
                </a:solidFill>
                <a:latin typeface="Calibri"/>
              </a:rPr>
              <a:t>University of Delaware  ·  Introduction to Data Mining  ·  May 2026  ·  K-Means k=4  ·  Silhouette = 0.2166  ·  4 Customer Segments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